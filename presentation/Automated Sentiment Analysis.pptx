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Inter"/>
      <p:bold r:id="rId14"/>
      <p:italic r:id="rId15"/>
    </p:embeddedFont>
    <p:embeddedFont>
      <p:font typeface="Playfair Display" pitchFamily="2" charset="77"/>
      <p:regular r:id="rId16"/>
      <p:bold r:id="rId17"/>
      <p:italic r:id="rId18"/>
      <p:boldItalic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058"/>
  </p:normalViewPr>
  <p:slideViewPr>
    <p:cSldViewPr snapToGrid="0" snapToObjects="1">
      <p:cViewPr varScale="1">
        <p:scale>
          <a:sx n="92" d="100"/>
          <a:sy n="92" d="100"/>
        </p:scale>
        <p:origin x="122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21C142-C8F9-8043-BD3D-B9C840A02C6E}" type="datetimeFigureOut">
              <a:rPr lang="en-AE" smtClean="0"/>
              <a:t>25/10/2026</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D2046D-2FEA-CD44-B224-1F3B80DEA8A5}" type="slidenum">
              <a:rPr lang="en-AE" smtClean="0"/>
              <a:t>‹#›</a:t>
            </a:fld>
            <a:endParaRPr lang="en-AE"/>
          </a:p>
        </p:txBody>
      </p:sp>
    </p:spTree>
    <p:extLst>
      <p:ext uri="{BB962C8B-B14F-4D97-AF65-F5344CB8AC3E}">
        <p14:creationId xmlns:p14="http://schemas.microsoft.com/office/powerpoint/2010/main" val="58581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Good evening. My name is Bin Huang, and this is my MAAI902 Assessment 2 submission. The project is called Automated Sentiment Analysis: Deep Learning for Large-Scale Content Moderation. Over the next few minutes I'll walk through the problem, the pipeline I built, the results, and what I learned from where the model fails.</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1</a:t>
            </a:fld>
            <a:endParaRPr lang="en-AE"/>
          </a:p>
        </p:txBody>
      </p:sp>
    </p:spTree>
    <p:extLst>
      <p:ext uri="{BB962C8B-B14F-4D97-AF65-F5344CB8AC3E}">
        <p14:creationId xmlns:p14="http://schemas.microsoft.com/office/powerpoint/2010/main" val="1943077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Platforms like IMDb, app stores, and e-commerce sites receive thousands of long-form reviews every day. Manual moderation at that scale is impossible — it's slow, it's expensive, and it's inconsistent between reviewers. My problem is a sub-problem of that: automatically classify each review as positive or negative so that moderation and analytics can be triaged. I used the IMDB Movie Reviews dataset, 50,000 records, binary labels. The reason this needs NLP and not a keyword filter is that sentiment is expressed implicitly. I'll show you an example of exactly that failure mode in a few slides.</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2</a:t>
            </a:fld>
            <a:endParaRPr lang="en-AE"/>
          </a:p>
        </p:txBody>
      </p:sp>
    </p:spTree>
    <p:extLst>
      <p:ext uri="{BB962C8B-B14F-4D97-AF65-F5344CB8AC3E}">
        <p14:creationId xmlns:p14="http://schemas.microsoft.com/office/powerpoint/2010/main" val="3485411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Before training, I loaded the dataset and found 50,000 rows across two columns — review text and sentiment label. I ran a duplicate check and found 418 exact duplicate reviews. Retaining those would cause data leakage, because the same review could appear in both train and test, so I removed them. That left 49,582 unique reviews. After deduplication the classes were still effectively balanced — 24,884 positive against 24,698 negative — so no class weighting was needed. One constraint I want to flag now because I return to it later: DistilBERT caps sequences at 512 tokens, so long reviews were truncated.</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3</a:t>
            </a:fld>
            <a:endParaRPr lang="en-AE"/>
          </a:p>
        </p:txBody>
      </p:sp>
    </p:spTree>
    <p:extLst>
      <p:ext uri="{BB962C8B-B14F-4D97-AF65-F5344CB8AC3E}">
        <p14:creationId xmlns:p14="http://schemas.microsoft.com/office/powerpoint/2010/main" val="3713070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I built two models. First, a baseline: TF-IDF vectorizer with 10,000 features and 1-2 n-grams, feeding a Linear Support Vector Classifier. That's cheap, fast, and interpretable — I wanted a performance floor. If a transformer couldn't meaningfully beat a word-counting baseline, the extra cost wouldn't be justified. Second, the core model: DistilBERT, uncased, fine-tuned for sequence classification on a Colab T4 GPU with mixed precision, one epoch. I chose DistilBERT over full BERT because it keeps roughly 97 percent of BERT's performance at 60 percent the inference cost — that trade-off matters for a system that would run at scale.</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4</a:t>
            </a:fld>
            <a:endParaRPr lang="en-AE"/>
          </a:p>
        </p:txBody>
      </p:sp>
    </p:spTree>
    <p:extLst>
      <p:ext uri="{BB962C8B-B14F-4D97-AF65-F5344CB8AC3E}">
        <p14:creationId xmlns:p14="http://schemas.microsoft.com/office/powerpoint/2010/main" val="196235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The baseline hit a Macro-F1 of 0.90. DistilBERT hit 0.93. A three-point absolute gain over a highly optimised SVM is meaningful in sentiment analysis — it validates the architectural choice. The transformer's self-attention captures semantic relationships that word counting misses. That said, I want to be clear that a 0.90 baseline is unusually strong, and the reason is that IMDB reviews contain a lot of highly polarised vocabulary — 'masterpiece' and 'garbage' do most of the work. On harder, more ambiguous text the gap would likely be larger.</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5</a:t>
            </a:fld>
            <a:endParaRPr lang="en-AE"/>
          </a:p>
        </p:txBody>
      </p:sp>
    </p:spTree>
    <p:extLst>
      <p:ext uri="{BB962C8B-B14F-4D97-AF65-F5344CB8AC3E}">
        <p14:creationId xmlns:p14="http://schemas.microsoft.com/office/powerpoint/2010/main" val="661360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Two diagnostics. Left: the ROC curve — AUC of 0.981, which shows strong separability across all decision thresholds, not just the default. Right: the confusion matrix. 4,577 true negatives, 4,674 true positives, 363 false positives, 303 false negatives. The errors are near-symmetric — the model isn't biased toward either class. That symmetry is important, because a lopsided matrix would have suggested a class-prior problem, and I'd need to address it in the ethics section.</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6</a:t>
            </a:fld>
            <a:endParaRPr lang="en-AE"/>
          </a:p>
        </p:txBody>
      </p:sp>
    </p:spTree>
    <p:extLst>
      <p:ext uri="{BB962C8B-B14F-4D97-AF65-F5344CB8AC3E}">
        <p14:creationId xmlns:p14="http://schemas.microsoft.com/office/powerpoint/2010/main" val="568345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This slide is the one that changed my design. I plotted confidence for correct versus incorrect predictions. Correct predictions cluster hard above 0.95 — that's fine. But look at the red bars: incorrect predictions also cluster well above 0.9. That means the model is overconfident. It gets things wrong, and it gets them wrong confidently. For a downstream routing system, that's more dangerous than a low-confidence error, because a confidently wrong prediction would sail straight through any naive confidence threshold. So my recommendation is that these scores are used as relative signals for triage, not as calibrated probabilities. Calibration via temperature scaling is listed in future work.</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7</a:t>
            </a:fld>
            <a:endParaRPr lang="en-AE"/>
          </a:p>
        </p:txBody>
      </p:sp>
    </p:spTree>
    <p:extLst>
      <p:ext uri="{BB962C8B-B14F-4D97-AF65-F5344CB8AC3E}">
        <p14:creationId xmlns:p14="http://schemas.microsoft.com/office/powerpoint/2010/main" val="2837828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Two failure modes I found by reading the misclassified examples. First, mixed sentiment and sarcasm. This review begins 'This isn't exactly a great film' and then pivots positive. The model weighted the early negative tokens heavily and missed the pivot — you can see it was only 0.66 confident, so a threshold would have caught this one. Second, the 512-token truncation. This review is 628 words. The author delivers their actual verdict — 'second-rate, 4 out of 10' — in the final sentence, which was truncated. The model never saw it. That false positive came out at 0.95 confidence. It was sure, and it was wrong, because it hadn't read the end. That's the overconfidence problem from the previous slide, caused by an architectural limitation.</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8</a:t>
            </a:fld>
            <a:endParaRPr lang="en-AE"/>
          </a:p>
        </p:txBody>
      </p:sp>
    </p:spTree>
    <p:extLst>
      <p:ext uri="{BB962C8B-B14F-4D97-AF65-F5344CB8AC3E}">
        <p14:creationId xmlns:p14="http://schemas.microsoft.com/office/powerpoint/2010/main" val="638641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Three ethical risks I addressed in the report. First, sociodemographic bias: pretrained models absorb the biases of their training corpora and can penalise non-standard English, AAVE, or non-native phrasing. My mitigation is disaggregated bias evaluation across dialect probes before any live deployment. Second, automation censorship: a false negative could silence legitimate criticism. My design treats the classifier as a routing aid, not an autonomous gatekeeper — ambiguous-confidence predictions go to a human moderator. Third, data provenance: the IMDB dataset was scraped from historical film discussions and has drifted from modern platform discourse. My mitigation is drift monitoring with retraining triggers, documented in the report.</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9</a:t>
            </a:fld>
            <a:endParaRPr lang="en-AE"/>
          </a:p>
        </p:txBody>
      </p:sp>
    </p:spTree>
    <p:extLst>
      <p:ext uri="{BB962C8B-B14F-4D97-AF65-F5344CB8AC3E}">
        <p14:creationId xmlns:p14="http://schemas.microsoft.com/office/powerpoint/2010/main" val="3881467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a:solidFill>
                  <a:schemeClr val="tx1"/>
                </a:solidFill>
                <a:effectLst/>
                <a:latin typeface="+mn-lt"/>
                <a:ea typeface="+mn-ea"/>
                <a:cs typeface="+mn-cs"/>
              </a:rPr>
              <a:t>To sum up. DistilBERT provides a genuine semantic upgrade over TF-IDF — 0.93 against 0.90 Macro-F1, with a three-point margin that's meaningful for sentiment classification. But the error analysis shows two fatal blind spots: token truncation, which caused high-confidence failures, and sarcasm, which caused low-confidence failures. Together they argue for the same conclusion: this pipeline is a routing aid, never an autonomous gatekeeper. Human-in-the-loop review remains strictly required, and confidence scores — because they're uncalibrated — are surfaced so moderators can override any prediction. Thank you. I'm happy to take questions.</a:t>
            </a:r>
            <a:endParaRPr lang="en-AE"/>
          </a:p>
        </p:txBody>
      </p:sp>
      <p:sp>
        <p:nvSpPr>
          <p:cNvPr id="4" name="Slide Number Placeholder 3"/>
          <p:cNvSpPr>
            <a:spLocks noGrp="1"/>
          </p:cNvSpPr>
          <p:nvPr>
            <p:ph type="sldNum" sz="quarter" idx="5"/>
          </p:nvPr>
        </p:nvSpPr>
        <p:spPr/>
        <p:txBody>
          <a:bodyPr/>
          <a:lstStyle/>
          <a:p>
            <a:fld id="{E4D2046D-2FEA-CD44-B224-1F3B80DEA8A5}" type="slidenum">
              <a:rPr lang="en-AE" smtClean="0"/>
              <a:t>10</a:t>
            </a:fld>
            <a:endParaRPr lang="en-AE"/>
          </a:p>
        </p:txBody>
      </p:sp>
    </p:spTree>
    <p:extLst>
      <p:ext uri="{BB962C8B-B14F-4D97-AF65-F5344CB8AC3E}">
        <p14:creationId xmlns:p14="http://schemas.microsoft.com/office/powerpoint/2010/main" val="349232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09600" y="4707135"/>
            <a:ext cx="76200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1579364"/>
            <a:ext cx="11582400" cy="228600"/>
          </a:xfrm>
          <a:prstGeom prst="rect">
            <a:avLst/>
          </a:prstGeom>
          <a:noFill/>
        </p:spPr>
        <p:txBody>
          <a:bodyPr wrap="none" lIns="0" tIns="0" rIns="0" bIns="0" anchor="t">
            <a:spAutoFit/>
          </a:bodyPr>
          <a:lstStyle/>
          <a:p>
            <a:pPr algn="l"/>
            <a:r>
              <a:rPr sz="1500" b="1" i="0" u="none">
                <a:solidFill>
                  <a:srgbClr val="60A5FA"/>
                </a:solidFill>
                <a:latin typeface="Inter"/>
              </a:rPr>
              <a:t>MAAI902 ASSESSMENT 2</a:t>
            </a:r>
          </a:p>
        </p:txBody>
      </p:sp>
      <p:sp>
        <p:nvSpPr>
          <p:cNvPr id="4" name="TextBox 3"/>
          <p:cNvSpPr txBox="1"/>
          <p:nvPr/>
        </p:nvSpPr>
        <p:spPr>
          <a:xfrm>
            <a:off x="609600" y="2036564"/>
            <a:ext cx="9101137" cy="1508521"/>
          </a:xfrm>
          <a:prstGeom prst="rect">
            <a:avLst/>
          </a:prstGeom>
          <a:noFill/>
        </p:spPr>
        <p:txBody>
          <a:bodyPr wrap="square" lIns="0" tIns="0" rIns="0" bIns="0" anchor="t">
            <a:spAutoFit/>
          </a:bodyPr>
          <a:lstStyle/>
          <a:p>
            <a:pPr algn="l">
              <a:lnSpc>
                <a:spcPts val="5940"/>
              </a:lnSpc>
            </a:pPr>
            <a:r>
              <a:rPr sz="5400" b="1" i="0" u="none">
                <a:solidFill>
                  <a:srgbClr val="F8FAFC"/>
                </a:solidFill>
                <a:latin typeface="Playfair Display"/>
              </a:rPr>
              <a:t>Automated Sentiment Analysis</a:t>
            </a:r>
          </a:p>
        </p:txBody>
      </p:sp>
      <p:sp>
        <p:nvSpPr>
          <p:cNvPr id="5" name="TextBox 4"/>
          <p:cNvSpPr txBox="1"/>
          <p:nvPr/>
        </p:nvSpPr>
        <p:spPr>
          <a:xfrm>
            <a:off x="609600" y="3773685"/>
            <a:ext cx="8334375" cy="323850"/>
          </a:xfrm>
          <a:prstGeom prst="rect">
            <a:avLst/>
          </a:prstGeom>
          <a:noFill/>
        </p:spPr>
        <p:txBody>
          <a:bodyPr wrap="none" lIns="0" tIns="0" rIns="0" bIns="0" anchor="t">
            <a:spAutoFit/>
          </a:bodyPr>
          <a:lstStyle/>
          <a:p>
            <a:pPr algn="l"/>
            <a:r>
              <a:rPr sz="2100" b="0" i="0" u="none">
                <a:solidFill>
                  <a:srgbClr val="94A3B8"/>
                </a:solidFill>
                <a:latin typeface="Inter"/>
              </a:rPr>
              <a:t>Deep Learning for Large-Scale Content Moderation</a:t>
            </a:r>
          </a:p>
        </p:txBody>
      </p:sp>
      <p:sp>
        <p:nvSpPr>
          <p:cNvPr id="6" name="TextBox 5"/>
          <p:cNvSpPr txBox="1"/>
          <p:nvPr/>
        </p:nvSpPr>
        <p:spPr>
          <a:xfrm>
            <a:off x="609600" y="5050035"/>
            <a:ext cx="2741776" cy="230832"/>
          </a:xfrm>
          <a:prstGeom prst="rect">
            <a:avLst/>
          </a:prstGeom>
          <a:noFill/>
        </p:spPr>
        <p:txBody>
          <a:bodyPr wrap="none" lIns="0" tIns="0" rIns="0" bIns="0" anchor="t">
            <a:spAutoFit/>
          </a:bodyPr>
          <a:lstStyle/>
          <a:p>
            <a:pPr algn="l"/>
            <a:r>
              <a:rPr sz="1500" b="0" i="0" u="none">
                <a:solidFill>
                  <a:srgbClr val="CBD5E1"/>
                </a:solidFill>
                <a:latin typeface="Inter"/>
              </a:rPr>
              <a:t>Presented by: </a:t>
            </a:r>
            <a:r>
              <a:rPr lang="en-US" sz="1500" b="0" i="0" u="none">
                <a:solidFill>
                  <a:srgbClr val="CBD5E1"/>
                </a:solidFill>
                <a:latin typeface="Inter"/>
              </a:rPr>
              <a:t>Bin Huang - 8391865</a:t>
            </a:r>
            <a:endParaRPr sz="1500" b="0" i="0" u="none">
              <a:solidFill>
                <a:srgbClr val="CBD5E1"/>
              </a:solidFill>
              <a:latin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609600" y="1585912"/>
            <a:ext cx="190500" cy="200025"/>
          </a:xfrm>
          <a:prstGeom prst="rect">
            <a:avLst/>
          </a:prstGeom>
        </p:spPr>
      </p:pic>
      <p:pic>
        <p:nvPicPr>
          <p:cNvPr id="5" name="Picture 4" descr="image.png"/>
          <p:cNvPicPr>
            <a:picLocks noChangeAspect="1"/>
          </p:cNvPicPr>
          <p:nvPr/>
        </p:nvPicPr>
        <p:blipFill>
          <a:blip r:embed="rId4"/>
          <a:stretch>
            <a:fillRect/>
          </a:stretch>
        </p:blipFill>
        <p:spPr>
          <a:xfrm>
            <a:off x="609600" y="2366962"/>
            <a:ext cx="171450" cy="200025"/>
          </a:xfrm>
          <a:prstGeom prst="rect">
            <a:avLst/>
          </a:prstGeom>
        </p:spPr>
      </p:pic>
      <p:pic>
        <p:nvPicPr>
          <p:cNvPr id="6" name="Picture 5" descr="image.png"/>
          <p:cNvPicPr>
            <a:picLocks noChangeAspect="1"/>
          </p:cNvPicPr>
          <p:nvPr/>
        </p:nvPicPr>
        <p:blipFill>
          <a:blip r:embed="rId5"/>
          <a:stretch>
            <a:fillRect/>
          </a:stretch>
        </p:blipFill>
        <p:spPr>
          <a:xfrm>
            <a:off x="609600" y="3148012"/>
            <a:ext cx="190500" cy="200025"/>
          </a:xfrm>
          <a:prstGeom prst="rect">
            <a:avLst/>
          </a:prstGeom>
        </p:spPr>
      </p:pic>
      <p:pic>
        <p:nvPicPr>
          <p:cNvPr id="7" name="Picture 6" descr="image.png"/>
          <p:cNvPicPr>
            <a:picLocks noChangeAspect="1"/>
          </p:cNvPicPr>
          <p:nvPr/>
        </p:nvPicPr>
        <p:blipFill>
          <a:blip r:embed="rId6"/>
          <a:stretch>
            <a:fillRect/>
          </a:stretch>
        </p:blipFill>
        <p:spPr>
          <a:xfrm>
            <a:off x="609600" y="3929062"/>
            <a:ext cx="190500" cy="200025"/>
          </a:xfrm>
          <a:prstGeom prst="rect">
            <a:avLst/>
          </a:prstGeom>
        </p:spPr>
      </p:pic>
      <p:sp>
        <p:nvSpPr>
          <p:cNvPr id="8" name="TextBox 7"/>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The Moderation Bottleneck</a:t>
            </a:r>
          </a:p>
        </p:txBody>
      </p:sp>
      <p:sp>
        <p:nvSpPr>
          <p:cNvPr id="10" name="TextBox 9"/>
          <p:cNvSpPr txBox="1"/>
          <p:nvPr/>
        </p:nvSpPr>
        <p:spPr>
          <a:xfrm>
            <a:off x="952500" y="1533525"/>
            <a:ext cx="5010150" cy="552450"/>
          </a:xfrm>
          <a:prstGeom prst="rect">
            <a:avLst/>
          </a:prstGeom>
          <a:noFill/>
        </p:spPr>
        <p:txBody>
          <a:bodyPr wrap="square" lIns="0" tIns="0" rIns="0" bIns="0" anchor="t">
            <a:spAutoFit/>
          </a:bodyPr>
          <a:lstStyle/>
          <a:p>
            <a:pPr algn="l"/>
            <a:r>
              <a:rPr sz="1800" b="1" i="0" u="none">
                <a:solidFill>
                  <a:srgbClr val="334155"/>
                </a:solidFill>
                <a:latin typeface="Inter"/>
              </a:rPr>
              <a:t>The Problem:</a:t>
            </a:r>
            <a:r>
              <a:rPr sz="1800" b="0" i="0" u="none">
                <a:solidFill>
                  <a:srgbClr val="334155"/>
                </a:solidFill>
                <a:latin typeface="Inter"/>
              </a:rPr>
              <a:t> Thousands of long-form reviews daily. Manual triage fails at scale.</a:t>
            </a:r>
          </a:p>
        </p:txBody>
      </p:sp>
      <p:sp>
        <p:nvSpPr>
          <p:cNvPr id="11" name="TextBox 10"/>
          <p:cNvSpPr txBox="1"/>
          <p:nvPr/>
        </p:nvSpPr>
        <p:spPr>
          <a:xfrm>
            <a:off x="933450" y="2314575"/>
            <a:ext cx="5029200" cy="552450"/>
          </a:xfrm>
          <a:prstGeom prst="rect">
            <a:avLst/>
          </a:prstGeom>
          <a:noFill/>
        </p:spPr>
        <p:txBody>
          <a:bodyPr wrap="square" lIns="0" tIns="0" rIns="0" bIns="0" anchor="t">
            <a:spAutoFit/>
          </a:bodyPr>
          <a:lstStyle/>
          <a:p>
            <a:pPr algn="l"/>
            <a:r>
              <a:rPr sz="1800" b="1" i="0" u="none">
                <a:solidFill>
                  <a:srgbClr val="334155"/>
                </a:solidFill>
                <a:latin typeface="Inter"/>
              </a:rPr>
              <a:t>The Dataset:</a:t>
            </a:r>
            <a:r>
              <a:rPr sz="1800" b="0" i="0" u="none">
                <a:solidFill>
                  <a:srgbClr val="334155"/>
                </a:solidFill>
                <a:latin typeface="Inter"/>
              </a:rPr>
              <a:t> IMDB Movie Reviews (50K records).</a:t>
            </a:r>
          </a:p>
        </p:txBody>
      </p:sp>
      <p:sp>
        <p:nvSpPr>
          <p:cNvPr id="12" name="TextBox 11"/>
          <p:cNvSpPr txBox="1"/>
          <p:nvPr/>
        </p:nvSpPr>
        <p:spPr>
          <a:xfrm>
            <a:off x="952500" y="3095625"/>
            <a:ext cx="5010150" cy="552450"/>
          </a:xfrm>
          <a:prstGeom prst="rect">
            <a:avLst/>
          </a:prstGeom>
          <a:noFill/>
        </p:spPr>
        <p:txBody>
          <a:bodyPr wrap="square" lIns="0" tIns="0" rIns="0" bIns="0" anchor="t">
            <a:spAutoFit/>
          </a:bodyPr>
          <a:lstStyle/>
          <a:p>
            <a:pPr algn="l"/>
            <a:r>
              <a:rPr sz="1800" b="1" i="0" u="none">
                <a:solidFill>
                  <a:srgbClr val="334155"/>
                </a:solidFill>
                <a:latin typeface="Inter"/>
              </a:rPr>
              <a:t>The Goal:</a:t>
            </a:r>
            <a:r>
              <a:rPr sz="1800" b="0" i="0" u="none">
                <a:solidFill>
                  <a:srgbClr val="334155"/>
                </a:solidFill>
                <a:latin typeface="Inter"/>
              </a:rPr>
              <a:t> Binary classification (Positive vs Negative).</a:t>
            </a:r>
          </a:p>
        </p:txBody>
      </p:sp>
      <p:sp>
        <p:nvSpPr>
          <p:cNvPr id="13" name="TextBox 12"/>
          <p:cNvSpPr txBox="1"/>
          <p:nvPr/>
        </p:nvSpPr>
        <p:spPr>
          <a:xfrm>
            <a:off x="952500" y="3876675"/>
            <a:ext cx="5010150" cy="552450"/>
          </a:xfrm>
          <a:prstGeom prst="rect">
            <a:avLst/>
          </a:prstGeom>
          <a:noFill/>
        </p:spPr>
        <p:txBody>
          <a:bodyPr wrap="square" lIns="0" tIns="0" rIns="0" bIns="0" anchor="t">
            <a:spAutoFit/>
          </a:bodyPr>
          <a:lstStyle/>
          <a:p>
            <a:pPr algn="l"/>
            <a:r>
              <a:rPr sz="1800" b="1" i="0" u="none">
                <a:solidFill>
                  <a:srgbClr val="334155"/>
                </a:solidFill>
                <a:latin typeface="Inter"/>
              </a:rPr>
              <a:t>Why it Matters:</a:t>
            </a:r>
            <a:r>
              <a:rPr sz="1800" b="0" i="0" u="none">
                <a:solidFill>
                  <a:srgbClr val="334155"/>
                </a:solidFill>
                <a:latin typeface="Inter"/>
              </a:rPr>
              <a:t> Automated semantic understanding replaces brittle keyword filters.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95587" y="4900612"/>
            <a:ext cx="6600825" cy="733425"/>
          </a:xfrm>
          <a:prstGeom prst="roundRect">
            <a:avLst>
              <a:gd name="adj" fmla="val 1558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86475" y="2443162"/>
            <a:ext cx="19050" cy="16954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Dataset Integrity &amp; Balance</a:t>
            </a:r>
          </a:p>
        </p:txBody>
      </p:sp>
      <p:sp>
        <p:nvSpPr>
          <p:cNvPr id="5" name="TextBox 4"/>
          <p:cNvSpPr txBox="1"/>
          <p:nvPr/>
        </p:nvSpPr>
        <p:spPr>
          <a:xfrm>
            <a:off x="2541984" y="5129212"/>
            <a:ext cx="7108031" cy="276225"/>
          </a:xfrm>
          <a:prstGeom prst="rect">
            <a:avLst/>
          </a:prstGeom>
          <a:noFill/>
        </p:spPr>
        <p:txBody>
          <a:bodyPr wrap="none" lIns="0" tIns="0" rIns="0" bIns="0" anchor="t">
            <a:spAutoFit/>
          </a:bodyPr>
          <a:lstStyle/>
          <a:p>
            <a:pPr algn="ctr"/>
            <a:r>
              <a:rPr sz="1800" b="1" i="0" u="none">
                <a:solidFill>
                  <a:srgbClr val="0F172A"/>
                </a:solidFill>
                <a:latin typeface="Inter"/>
              </a:rPr>
              <a:t>Hardware Constraint: Truncated at 512 tokens max.</a:t>
            </a:r>
          </a:p>
        </p:txBody>
      </p:sp>
      <p:sp>
        <p:nvSpPr>
          <p:cNvPr id="6" name="TextBox 5"/>
          <p:cNvSpPr txBox="1"/>
          <p:nvPr/>
        </p:nvSpPr>
        <p:spPr>
          <a:xfrm>
            <a:off x="815578" y="2443162"/>
            <a:ext cx="5179218" cy="914400"/>
          </a:xfrm>
          <a:prstGeom prst="rect">
            <a:avLst/>
          </a:prstGeom>
          <a:noFill/>
        </p:spPr>
        <p:txBody>
          <a:bodyPr wrap="none" lIns="0" tIns="0" rIns="0" bIns="0" anchor="t">
            <a:spAutoFit/>
          </a:bodyPr>
          <a:lstStyle/>
          <a:p>
            <a:pPr algn="ctr">
              <a:lnSpc>
                <a:spcPts val="7200"/>
              </a:lnSpc>
            </a:pPr>
            <a:r>
              <a:rPr sz="7200" b="1" i="0" u="none">
                <a:solidFill>
                  <a:srgbClr val="0F172A"/>
                </a:solidFill>
                <a:latin typeface="Inter"/>
              </a:rPr>
              <a:t>49,582</a:t>
            </a:r>
          </a:p>
        </p:txBody>
      </p:sp>
      <p:sp>
        <p:nvSpPr>
          <p:cNvPr id="7" name="TextBox 6"/>
          <p:cNvSpPr txBox="1"/>
          <p:nvPr/>
        </p:nvSpPr>
        <p:spPr>
          <a:xfrm>
            <a:off x="815578" y="3509962"/>
            <a:ext cx="5179218" cy="276225"/>
          </a:xfrm>
          <a:prstGeom prst="rect">
            <a:avLst/>
          </a:prstGeom>
          <a:noFill/>
        </p:spPr>
        <p:txBody>
          <a:bodyPr wrap="none" lIns="0" tIns="0" rIns="0" bIns="0" anchor="t">
            <a:spAutoFit/>
          </a:bodyPr>
          <a:lstStyle/>
          <a:p>
            <a:pPr algn="ctr"/>
            <a:r>
              <a:rPr sz="1800" b="1" i="0" u="none">
                <a:solidFill>
                  <a:srgbClr val="64748B"/>
                </a:solidFill>
                <a:latin typeface="Inter"/>
              </a:rPr>
              <a:t>Clean Unique Reviews</a:t>
            </a:r>
          </a:p>
        </p:txBody>
      </p:sp>
      <p:sp>
        <p:nvSpPr>
          <p:cNvPr id="8" name="TextBox 7"/>
          <p:cNvSpPr txBox="1"/>
          <p:nvPr/>
        </p:nvSpPr>
        <p:spPr>
          <a:xfrm>
            <a:off x="815578" y="3938587"/>
            <a:ext cx="5179218" cy="200025"/>
          </a:xfrm>
          <a:prstGeom prst="rect">
            <a:avLst/>
          </a:prstGeom>
          <a:noFill/>
        </p:spPr>
        <p:txBody>
          <a:bodyPr wrap="none" lIns="0" tIns="0" rIns="0" bIns="0" anchor="t">
            <a:spAutoFit/>
          </a:bodyPr>
          <a:lstStyle/>
          <a:p>
            <a:pPr algn="ctr"/>
            <a:r>
              <a:rPr sz="1350" b="0" i="0" u="none">
                <a:solidFill>
                  <a:srgbClr val="0F172A"/>
                </a:solidFill>
                <a:latin typeface="Inter"/>
              </a:rPr>
              <a:t>418 duplicates removed.</a:t>
            </a:r>
          </a:p>
        </p:txBody>
      </p:sp>
      <p:sp>
        <p:nvSpPr>
          <p:cNvPr id="9" name="TextBox 8"/>
          <p:cNvSpPr txBox="1"/>
          <p:nvPr/>
        </p:nvSpPr>
        <p:spPr>
          <a:xfrm>
            <a:off x="6197203" y="2443162"/>
            <a:ext cx="5179218" cy="914400"/>
          </a:xfrm>
          <a:prstGeom prst="rect">
            <a:avLst/>
          </a:prstGeom>
          <a:noFill/>
        </p:spPr>
        <p:txBody>
          <a:bodyPr wrap="none" lIns="0" tIns="0" rIns="0" bIns="0" anchor="t">
            <a:spAutoFit/>
          </a:bodyPr>
          <a:lstStyle/>
          <a:p>
            <a:pPr algn="ctr">
              <a:lnSpc>
                <a:spcPts val="7200"/>
              </a:lnSpc>
            </a:pPr>
            <a:r>
              <a:rPr sz="7200" b="1" i="0" u="none">
                <a:solidFill>
                  <a:srgbClr val="3B82F6"/>
                </a:solidFill>
                <a:latin typeface="Inter"/>
              </a:rPr>
              <a:t>50/50</a:t>
            </a:r>
          </a:p>
        </p:txBody>
      </p:sp>
      <p:sp>
        <p:nvSpPr>
          <p:cNvPr id="10" name="TextBox 9"/>
          <p:cNvSpPr txBox="1"/>
          <p:nvPr/>
        </p:nvSpPr>
        <p:spPr>
          <a:xfrm>
            <a:off x="6197203" y="3509962"/>
            <a:ext cx="5179218" cy="276225"/>
          </a:xfrm>
          <a:prstGeom prst="rect">
            <a:avLst/>
          </a:prstGeom>
          <a:noFill/>
        </p:spPr>
        <p:txBody>
          <a:bodyPr wrap="none" lIns="0" tIns="0" rIns="0" bIns="0" anchor="t">
            <a:spAutoFit/>
          </a:bodyPr>
          <a:lstStyle/>
          <a:p>
            <a:pPr algn="ctr"/>
            <a:r>
              <a:rPr sz="1800" b="1" i="0" u="none">
                <a:solidFill>
                  <a:srgbClr val="64748B"/>
                </a:solidFill>
                <a:latin typeface="Inter"/>
              </a:rPr>
              <a:t>Perfect Class Balance</a:t>
            </a:r>
          </a:p>
        </p:txBody>
      </p:sp>
      <p:sp>
        <p:nvSpPr>
          <p:cNvPr id="11" name="TextBox 10"/>
          <p:cNvSpPr txBox="1"/>
          <p:nvPr/>
        </p:nvSpPr>
        <p:spPr>
          <a:xfrm>
            <a:off x="6197203" y="3938587"/>
            <a:ext cx="5179218" cy="200025"/>
          </a:xfrm>
          <a:prstGeom prst="rect">
            <a:avLst/>
          </a:prstGeom>
          <a:noFill/>
        </p:spPr>
        <p:txBody>
          <a:bodyPr wrap="none" lIns="0" tIns="0" rIns="0" bIns="0" anchor="t">
            <a:spAutoFit/>
          </a:bodyPr>
          <a:lstStyle/>
          <a:p>
            <a:pPr algn="ctr"/>
            <a:r>
              <a:rPr sz="1350" b="0" i="0" u="none">
                <a:solidFill>
                  <a:srgbClr val="0F172A"/>
                </a:solidFill>
                <a:latin typeface="Inter"/>
              </a:rPr>
              <a:t>24,884 Positive | 24,698 Negative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603152"/>
            <a:ext cx="5324475" cy="2870745"/>
          </a:xfrm>
          <a:prstGeom prst="roundRect">
            <a:avLst>
              <a:gd name="adj" fmla="val 398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38875" y="2593627"/>
            <a:ext cx="5343525" cy="2889795"/>
          </a:xfrm>
          <a:prstGeom prst="roundRect">
            <a:avLst>
              <a:gd name="adj" fmla="val 3955"/>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923925" y="2917477"/>
            <a:ext cx="333375" cy="381000"/>
          </a:xfrm>
          <a:prstGeom prst="rect">
            <a:avLst/>
          </a:prstGeom>
        </p:spPr>
      </p:pic>
      <p:pic>
        <p:nvPicPr>
          <p:cNvPr id="5" name="Picture 4" descr="image.png"/>
          <p:cNvPicPr>
            <a:picLocks noChangeAspect="1"/>
          </p:cNvPicPr>
          <p:nvPr/>
        </p:nvPicPr>
        <p:blipFill>
          <a:blip r:embed="rId4"/>
          <a:stretch>
            <a:fillRect/>
          </a:stretch>
        </p:blipFill>
        <p:spPr>
          <a:xfrm>
            <a:off x="6562725" y="2917477"/>
            <a:ext cx="381000" cy="381000"/>
          </a:xfrm>
          <a:prstGeom prst="rect">
            <a:avLst/>
          </a:prstGeom>
        </p:spPr>
      </p:pic>
      <p:sp>
        <p:nvSpPr>
          <p:cNvPr id="6" name="TextBox 5"/>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What I Built</a:t>
            </a:r>
          </a:p>
        </p:txBody>
      </p:sp>
      <p:sp>
        <p:nvSpPr>
          <p:cNvPr id="7" name="TextBox 6"/>
          <p:cNvSpPr txBox="1"/>
          <p:nvPr/>
        </p:nvSpPr>
        <p:spPr>
          <a:xfrm>
            <a:off x="923925" y="3527077"/>
            <a:ext cx="6163270" cy="276225"/>
          </a:xfrm>
          <a:prstGeom prst="rect">
            <a:avLst/>
          </a:prstGeom>
          <a:noFill/>
        </p:spPr>
        <p:txBody>
          <a:bodyPr wrap="none" lIns="0" tIns="0" rIns="0" bIns="0" anchor="t">
            <a:spAutoFit/>
          </a:bodyPr>
          <a:lstStyle/>
          <a:p>
            <a:pPr algn="l"/>
            <a:r>
              <a:rPr sz="1800" b="1" i="0" u="none">
                <a:solidFill>
                  <a:srgbClr val="0F172A"/>
                </a:solidFill>
                <a:latin typeface="Inter"/>
              </a:rPr>
              <a:t>Baseline Model</a:t>
            </a:r>
          </a:p>
        </p:txBody>
      </p:sp>
      <p:sp>
        <p:nvSpPr>
          <p:cNvPr id="8" name="TextBox 7"/>
          <p:cNvSpPr txBox="1"/>
          <p:nvPr/>
        </p:nvSpPr>
        <p:spPr>
          <a:xfrm>
            <a:off x="923925" y="3955702"/>
            <a:ext cx="5869781" cy="266700"/>
          </a:xfrm>
          <a:prstGeom prst="rect">
            <a:avLst/>
          </a:prstGeom>
          <a:noFill/>
        </p:spPr>
        <p:txBody>
          <a:bodyPr wrap="none" lIns="0" tIns="0" rIns="0" bIns="0" anchor="t">
            <a:spAutoFit/>
          </a:bodyPr>
          <a:lstStyle/>
          <a:p>
            <a:pPr algn="l">
              <a:lnSpc>
                <a:spcPts val="2100"/>
              </a:lnSpc>
            </a:pPr>
            <a:r>
              <a:rPr sz="1500" b="1" i="0" u="none">
                <a:solidFill>
                  <a:srgbClr val="475569"/>
                </a:solidFill>
                <a:latin typeface="Inter"/>
              </a:rPr>
              <a:t>TF-IDF + LinearSVC</a:t>
            </a:r>
          </a:p>
        </p:txBody>
      </p:sp>
      <p:sp>
        <p:nvSpPr>
          <p:cNvPr id="9" name="TextBox 8"/>
          <p:cNvSpPr txBox="1"/>
          <p:nvPr/>
        </p:nvSpPr>
        <p:spPr>
          <a:xfrm>
            <a:off x="6562725" y="3527077"/>
            <a:ext cx="5629275" cy="276225"/>
          </a:xfrm>
          <a:prstGeom prst="rect">
            <a:avLst/>
          </a:prstGeom>
          <a:noFill/>
        </p:spPr>
        <p:txBody>
          <a:bodyPr wrap="none" lIns="0" tIns="0" rIns="0" bIns="0" anchor="t">
            <a:spAutoFit/>
          </a:bodyPr>
          <a:lstStyle/>
          <a:p>
            <a:pPr algn="l"/>
            <a:r>
              <a:rPr sz="1800" b="1" i="0" u="none">
                <a:solidFill>
                  <a:srgbClr val="0F172A"/>
                </a:solidFill>
                <a:latin typeface="Inter"/>
              </a:rPr>
              <a:t>Core Architecture</a:t>
            </a:r>
          </a:p>
        </p:txBody>
      </p:sp>
      <p:sp>
        <p:nvSpPr>
          <p:cNvPr id="10" name="TextBox 9"/>
          <p:cNvSpPr txBox="1"/>
          <p:nvPr/>
        </p:nvSpPr>
        <p:spPr>
          <a:xfrm>
            <a:off x="6562725" y="3955702"/>
            <a:ext cx="5629275" cy="266700"/>
          </a:xfrm>
          <a:prstGeom prst="rect">
            <a:avLst/>
          </a:prstGeom>
          <a:noFill/>
        </p:spPr>
        <p:txBody>
          <a:bodyPr wrap="none" lIns="0" tIns="0" rIns="0" bIns="0" anchor="t">
            <a:spAutoFit/>
          </a:bodyPr>
          <a:lstStyle/>
          <a:p>
            <a:pPr algn="l">
              <a:lnSpc>
                <a:spcPts val="2100"/>
              </a:lnSpc>
            </a:pPr>
            <a:r>
              <a:rPr sz="1500" b="1" i="0" u="none">
                <a:solidFill>
                  <a:srgbClr val="3B82F6"/>
                </a:solidFill>
                <a:latin typeface="Inter"/>
              </a:rPr>
              <a:t>DistilBERT (uncased)</a:t>
            </a:r>
          </a:p>
        </p:txBody>
      </p:sp>
      <p:sp>
        <p:nvSpPr>
          <p:cNvPr id="11" name="TextBox 10"/>
          <p:cNvSpPr txBox="1"/>
          <p:nvPr/>
        </p:nvSpPr>
        <p:spPr>
          <a:xfrm>
            <a:off x="923925" y="4336702"/>
            <a:ext cx="5869781" cy="274290"/>
          </a:xfrm>
          <a:prstGeom prst="rect">
            <a:avLst/>
          </a:prstGeom>
          <a:noFill/>
        </p:spPr>
        <p:txBody>
          <a:bodyPr wrap="none" lIns="0" tIns="0" rIns="0" bIns="0" anchor="t">
            <a:spAutoFit/>
          </a:bodyPr>
          <a:lstStyle/>
          <a:p>
            <a:pPr algn="l">
              <a:lnSpc>
                <a:spcPts val="2160"/>
              </a:lnSpc>
            </a:pPr>
            <a:r>
              <a:rPr sz="1350" b="0" i="0" u="none">
                <a:solidFill>
                  <a:srgbClr val="475569"/>
                </a:solidFill>
                <a:latin typeface="Inter"/>
              </a:rPr>
              <a:t>• 10,000 max features.</a:t>
            </a:r>
          </a:p>
        </p:txBody>
      </p:sp>
      <p:sp>
        <p:nvSpPr>
          <p:cNvPr id="12" name="TextBox 11"/>
          <p:cNvSpPr txBox="1"/>
          <p:nvPr/>
        </p:nvSpPr>
        <p:spPr>
          <a:xfrm>
            <a:off x="923925" y="4610992"/>
            <a:ext cx="5869781" cy="274290"/>
          </a:xfrm>
          <a:prstGeom prst="rect">
            <a:avLst/>
          </a:prstGeom>
          <a:noFill/>
        </p:spPr>
        <p:txBody>
          <a:bodyPr wrap="none" lIns="0" tIns="0" rIns="0" bIns="0" anchor="t">
            <a:spAutoFit/>
          </a:bodyPr>
          <a:lstStyle/>
          <a:p>
            <a:pPr algn="l">
              <a:lnSpc>
                <a:spcPts val="2160"/>
              </a:lnSpc>
            </a:pPr>
            <a:r>
              <a:rPr sz="1350" b="0" i="0" u="none">
                <a:solidFill>
                  <a:srgbClr val="475569"/>
                </a:solidFill>
                <a:latin typeface="Inter"/>
              </a:rPr>
              <a:t>• 1-2 n-grams.</a:t>
            </a:r>
          </a:p>
        </p:txBody>
      </p:sp>
      <p:sp>
        <p:nvSpPr>
          <p:cNvPr id="13" name="TextBox 12"/>
          <p:cNvSpPr txBox="1"/>
          <p:nvPr/>
        </p:nvSpPr>
        <p:spPr>
          <a:xfrm>
            <a:off x="923925" y="4885283"/>
            <a:ext cx="5869781" cy="274290"/>
          </a:xfrm>
          <a:prstGeom prst="rect">
            <a:avLst/>
          </a:prstGeom>
          <a:noFill/>
        </p:spPr>
        <p:txBody>
          <a:bodyPr wrap="none" lIns="0" tIns="0" rIns="0" bIns="0" anchor="t">
            <a:spAutoFit/>
          </a:bodyPr>
          <a:lstStyle/>
          <a:p>
            <a:pPr algn="l">
              <a:lnSpc>
                <a:spcPts val="2160"/>
              </a:lnSpc>
            </a:pPr>
            <a:r>
              <a:rPr sz="1350" b="0" i="0" u="none">
                <a:solidFill>
                  <a:srgbClr val="475569"/>
                </a:solidFill>
                <a:latin typeface="Inter"/>
              </a:rPr>
              <a:t>• Fast, interpretable floor.</a:t>
            </a:r>
          </a:p>
        </p:txBody>
      </p:sp>
      <p:sp>
        <p:nvSpPr>
          <p:cNvPr id="14" name="TextBox 13"/>
          <p:cNvSpPr txBox="1"/>
          <p:nvPr/>
        </p:nvSpPr>
        <p:spPr>
          <a:xfrm>
            <a:off x="6562725" y="4336702"/>
            <a:ext cx="5629275" cy="274290"/>
          </a:xfrm>
          <a:prstGeom prst="rect">
            <a:avLst/>
          </a:prstGeom>
          <a:noFill/>
        </p:spPr>
        <p:txBody>
          <a:bodyPr wrap="none" lIns="0" tIns="0" rIns="0" bIns="0" anchor="t">
            <a:spAutoFit/>
          </a:bodyPr>
          <a:lstStyle/>
          <a:p>
            <a:pPr algn="l">
              <a:lnSpc>
                <a:spcPts val="2160"/>
              </a:lnSpc>
            </a:pPr>
            <a:r>
              <a:rPr sz="1350" b="0" i="0" u="none">
                <a:solidFill>
                  <a:srgbClr val="475569"/>
                </a:solidFill>
                <a:latin typeface="Inter"/>
              </a:rPr>
              <a:t>• Colab T4 GPU.</a:t>
            </a:r>
          </a:p>
        </p:txBody>
      </p:sp>
      <p:sp>
        <p:nvSpPr>
          <p:cNvPr id="15" name="TextBox 14"/>
          <p:cNvSpPr txBox="1"/>
          <p:nvPr/>
        </p:nvSpPr>
        <p:spPr>
          <a:xfrm>
            <a:off x="6562725" y="4610992"/>
            <a:ext cx="5629275" cy="274290"/>
          </a:xfrm>
          <a:prstGeom prst="rect">
            <a:avLst/>
          </a:prstGeom>
          <a:noFill/>
        </p:spPr>
        <p:txBody>
          <a:bodyPr wrap="none" lIns="0" tIns="0" rIns="0" bIns="0" anchor="t">
            <a:spAutoFit/>
          </a:bodyPr>
          <a:lstStyle/>
          <a:p>
            <a:pPr algn="l">
              <a:lnSpc>
                <a:spcPts val="2160"/>
              </a:lnSpc>
            </a:pPr>
            <a:r>
              <a:rPr sz="1350" b="0" i="0" u="none">
                <a:solidFill>
                  <a:srgbClr val="475569"/>
                </a:solidFill>
                <a:latin typeface="Inter"/>
              </a:rPr>
              <a:t>• Mixed precision (fp16).</a:t>
            </a:r>
          </a:p>
        </p:txBody>
      </p:sp>
      <p:sp>
        <p:nvSpPr>
          <p:cNvPr id="16" name="TextBox 15"/>
          <p:cNvSpPr txBox="1"/>
          <p:nvPr/>
        </p:nvSpPr>
        <p:spPr>
          <a:xfrm>
            <a:off x="6562725" y="4885283"/>
            <a:ext cx="5629275" cy="274290"/>
          </a:xfrm>
          <a:prstGeom prst="rect">
            <a:avLst/>
          </a:prstGeom>
          <a:noFill/>
        </p:spPr>
        <p:txBody>
          <a:bodyPr wrap="none" lIns="0" tIns="0" rIns="0" bIns="0" anchor="t">
            <a:spAutoFit/>
          </a:bodyPr>
          <a:lstStyle/>
          <a:p>
            <a:pPr algn="l">
              <a:lnSpc>
                <a:spcPts val="2160"/>
              </a:lnSpc>
            </a:pPr>
            <a:r>
              <a:rPr sz="1350" b="0" i="0" u="none">
                <a:solidFill>
                  <a:srgbClr val="475569"/>
                </a:solidFill>
                <a:latin typeface="Inter"/>
              </a:rPr>
              <a:t>• 1 epoch, sequence classification head.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5534025" y="3228975"/>
            <a:ext cx="400050" cy="457200"/>
          </a:xfrm>
          <a:prstGeom prst="rect">
            <a:avLst/>
          </a:prstGeom>
        </p:spPr>
      </p:pic>
      <p:sp>
        <p:nvSpPr>
          <p:cNvPr id="3" name="TextBox 2"/>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The Headline Result</a:t>
            </a:r>
          </a:p>
        </p:txBody>
      </p:sp>
      <p:sp>
        <p:nvSpPr>
          <p:cNvPr id="4" name="TextBox 3"/>
          <p:cNvSpPr txBox="1"/>
          <p:nvPr/>
        </p:nvSpPr>
        <p:spPr>
          <a:xfrm>
            <a:off x="2750343" y="5067300"/>
            <a:ext cx="6691312" cy="552450"/>
          </a:xfrm>
          <a:prstGeom prst="rect">
            <a:avLst/>
          </a:prstGeom>
          <a:noFill/>
        </p:spPr>
        <p:txBody>
          <a:bodyPr wrap="square" lIns="0" tIns="0" rIns="0" bIns="0" anchor="t">
            <a:spAutoFit/>
          </a:bodyPr>
          <a:lstStyle/>
          <a:p>
            <a:pPr algn="ctr"/>
            <a:r>
              <a:rPr sz="1800" b="1" i="0" u="none">
                <a:solidFill>
                  <a:srgbClr val="334155"/>
                </a:solidFill>
                <a:latin typeface="Inter"/>
              </a:rPr>
              <a:t>Transformers capture semantic nuance.</a:t>
            </a:r>
            <a:r>
              <a:t>
</a:t>
            </a:r>
            <a:r>
              <a:rPr sz="1800" b="1" i="0" u="none">
                <a:solidFill>
                  <a:srgbClr val="334155"/>
                </a:solidFill>
                <a:latin typeface="Inter"/>
              </a:rPr>
              <a:t> Deep learning beats strict lexical word-counting.</a:t>
            </a:r>
          </a:p>
        </p:txBody>
      </p:sp>
      <p:sp>
        <p:nvSpPr>
          <p:cNvPr id="5" name="TextBox 4"/>
          <p:cNvSpPr txBox="1"/>
          <p:nvPr/>
        </p:nvSpPr>
        <p:spPr>
          <a:xfrm>
            <a:off x="2618184" y="2671762"/>
            <a:ext cx="2393156" cy="276225"/>
          </a:xfrm>
          <a:prstGeom prst="rect">
            <a:avLst/>
          </a:prstGeom>
          <a:noFill/>
        </p:spPr>
        <p:txBody>
          <a:bodyPr wrap="none" lIns="0" tIns="0" rIns="0" bIns="0" anchor="t">
            <a:spAutoFit/>
          </a:bodyPr>
          <a:lstStyle/>
          <a:p>
            <a:pPr algn="ctr"/>
            <a:r>
              <a:rPr sz="1800" b="1" i="0" u="none">
                <a:solidFill>
                  <a:srgbClr val="64748B"/>
                </a:solidFill>
                <a:latin typeface="Inter"/>
              </a:rPr>
              <a:t>Baseline (TF-IDF)</a:t>
            </a:r>
          </a:p>
        </p:txBody>
      </p:sp>
      <p:sp>
        <p:nvSpPr>
          <p:cNvPr id="6" name="TextBox 5"/>
          <p:cNvSpPr txBox="1"/>
          <p:nvPr/>
        </p:nvSpPr>
        <p:spPr>
          <a:xfrm>
            <a:off x="2618184" y="3100387"/>
            <a:ext cx="2393156" cy="762000"/>
          </a:xfrm>
          <a:prstGeom prst="rect">
            <a:avLst/>
          </a:prstGeom>
          <a:noFill/>
        </p:spPr>
        <p:txBody>
          <a:bodyPr wrap="none" lIns="0" tIns="0" rIns="0" bIns="0" anchor="t">
            <a:spAutoFit/>
          </a:bodyPr>
          <a:lstStyle/>
          <a:p>
            <a:pPr algn="ctr">
              <a:lnSpc>
                <a:spcPts val="6000"/>
              </a:lnSpc>
            </a:pPr>
            <a:r>
              <a:rPr sz="6000" b="1" i="0" u="none">
                <a:solidFill>
                  <a:srgbClr val="0F172A"/>
                </a:solidFill>
                <a:latin typeface="Inter"/>
              </a:rPr>
              <a:t>0.90</a:t>
            </a:r>
          </a:p>
        </p:txBody>
      </p:sp>
      <p:sp>
        <p:nvSpPr>
          <p:cNvPr id="7" name="TextBox 6"/>
          <p:cNvSpPr txBox="1"/>
          <p:nvPr/>
        </p:nvSpPr>
        <p:spPr>
          <a:xfrm>
            <a:off x="2618184" y="4014787"/>
            <a:ext cx="2393156" cy="228600"/>
          </a:xfrm>
          <a:prstGeom prst="rect">
            <a:avLst/>
          </a:prstGeom>
          <a:noFill/>
        </p:spPr>
        <p:txBody>
          <a:bodyPr wrap="none" lIns="0" tIns="0" rIns="0" bIns="0" anchor="t">
            <a:spAutoFit/>
          </a:bodyPr>
          <a:lstStyle/>
          <a:p>
            <a:pPr algn="ctr"/>
            <a:r>
              <a:rPr sz="1500" b="0" i="0" u="none">
                <a:solidFill>
                  <a:srgbClr val="475569"/>
                </a:solidFill>
                <a:latin typeface="Inter"/>
              </a:rPr>
              <a:t>Macro-F1 Score</a:t>
            </a:r>
          </a:p>
        </p:txBody>
      </p:sp>
      <p:sp>
        <p:nvSpPr>
          <p:cNvPr id="8" name="TextBox 7"/>
          <p:cNvSpPr txBox="1"/>
          <p:nvPr/>
        </p:nvSpPr>
        <p:spPr>
          <a:xfrm>
            <a:off x="6366271" y="2457450"/>
            <a:ext cx="3298031" cy="276225"/>
          </a:xfrm>
          <a:prstGeom prst="rect">
            <a:avLst/>
          </a:prstGeom>
          <a:noFill/>
        </p:spPr>
        <p:txBody>
          <a:bodyPr wrap="none" lIns="0" tIns="0" rIns="0" bIns="0" anchor="t">
            <a:spAutoFit/>
          </a:bodyPr>
          <a:lstStyle/>
          <a:p>
            <a:pPr algn="ctr"/>
            <a:r>
              <a:rPr sz="1800" b="1" i="0" u="none">
                <a:solidFill>
                  <a:srgbClr val="3B82F6"/>
                </a:solidFill>
                <a:latin typeface="Inter"/>
              </a:rPr>
              <a:t>DistilBERT</a:t>
            </a:r>
          </a:p>
        </p:txBody>
      </p:sp>
      <p:sp>
        <p:nvSpPr>
          <p:cNvPr id="9" name="TextBox 8"/>
          <p:cNvSpPr txBox="1"/>
          <p:nvPr/>
        </p:nvSpPr>
        <p:spPr>
          <a:xfrm>
            <a:off x="6366271" y="2886075"/>
            <a:ext cx="3298031" cy="1143000"/>
          </a:xfrm>
          <a:prstGeom prst="rect">
            <a:avLst/>
          </a:prstGeom>
          <a:noFill/>
        </p:spPr>
        <p:txBody>
          <a:bodyPr wrap="none" lIns="0" tIns="0" rIns="0" bIns="0" anchor="t">
            <a:spAutoFit/>
          </a:bodyPr>
          <a:lstStyle/>
          <a:p>
            <a:pPr algn="ctr">
              <a:lnSpc>
                <a:spcPts val="9000"/>
              </a:lnSpc>
            </a:pPr>
            <a:r>
              <a:rPr sz="9000" b="1" i="0" u="none">
                <a:solidFill>
                  <a:srgbClr val="3B82F6"/>
                </a:solidFill>
                <a:latin typeface="Inter"/>
              </a:rPr>
              <a:t>0.93</a:t>
            </a:r>
          </a:p>
        </p:txBody>
      </p:sp>
      <p:sp>
        <p:nvSpPr>
          <p:cNvPr id="10" name="TextBox 9"/>
          <p:cNvSpPr txBox="1"/>
          <p:nvPr/>
        </p:nvSpPr>
        <p:spPr>
          <a:xfrm>
            <a:off x="6366271" y="4181475"/>
            <a:ext cx="3298031" cy="276225"/>
          </a:xfrm>
          <a:prstGeom prst="rect">
            <a:avLst/>
          </a:prstGeom>
          <a:noFill/>
        </p:spPr>
        <p:txBody>
          <a:bodyPr wrap="none" lIns="0" tIns="0" rIns="0" bIns="0" anchor="t">
            <a:spAutoFit/>
          </a:bodyPr>
          <a:lstStyle/>
          <a:p>
            <a:pPr algn="ctr"/>
            <a:r>
              <a:rPr sz="1800" b="1" i="0" u="none">
                <a:solidFill>
                  <a:srgbClr val="0F172A"/>
                </a:solidFill>
                <a:latin typeface="Inter"/>
              </a:rPr>
              <a:t>Macro-F1 Score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609600" y="1228725"/>
            <a:ext cx="5257800" cy="5619750"/>
          </a:xfrm>
          <a:prstGeom prst="rect">
            <a:avLst/>
          </a:prstGeom>
        </p:spPr>
      </p:pic>
      <p:pic>
        <p:nvPicPr>
          <p:cNvPr id="3" name="Picture 2" descr="image.png"/>
          <p:cNvPicPr>
            <a:picLocks noChangeAspect="1"/>
          </p:cNvPicPr>
          <p:nvPr/>
        </p:nvPicPr>
        <p:blipFill>
          <a:blip r:embed="rId3"/>
          <a:stretch>
            <a:fillRect/>
          </a:stretch>
        </p:blipFill>
        <p:spPr>
          <a:xfrm>
            <a:off x="6324600" y="1228725"/>
            <a:ext cx="5257800" cy="5619750"/>
          </a:xfrm>
          <a:prstGeom prst="rect">
            <a:avLst/>
          </a:prstGeom>
        </p:spPr>
      </p:pic>
      <p:pic>
        <p:nvPicPr>
          <p:cNvPr id="4" name="Picture 3" descr="image.png"/>
          <p:cNvPicPr>
            <a:picLocks noChangeAspect="1"/>
          </p:cNvPicPr>
          <p:nvPr/>
        </p:nvPicPr>
        <p:blipFill>
          <a:blip r:embed="rId4"/>
          <a:stretch>
            <a:fillRect/>
          </a:stretch>
        </p:blipFill>
        <p:spPr>
          <a:xfrm>
            <a:off x="838200" y="1457325"/>
            <a:ext cx="4800600" cy="5162550"/>
          </a:xfrm>
          <a:prstGeom prst="rect">
            <a:avLst/>
          </a:prstGeom>
        </p:spPr>
      </p:pic>
      <p:pic>
        <p:nvPicPr>
          <p:cNvPr id="5" name="Picture 4" descr="image.png"/>
          <p:cNvPicPr>
            <a:picLocks noChangeAspect="1"/>
          </p:cNvPicPr>
          <p:nvPr/>
        </p:nvPicPr>
        <p:blipFill>
          <a:blip r:embed="rId5"/>
          <a:stretch>
            <a:fillRect/>
          </a:stretch>
        </p:blipFill>
        <p:spPr>
          <a:xfrm>
            <a:off x="6553200" y="1457325"/>
            <a:ext cx="4800600" cy="5162550"/>
          </a:xfrm>
          <a:prstGeom prst="rect">
            <a:avLst/>
          </a:prstGeom>
        </p:spPr>
      </p:pic>
      <p:sp>
        <p:nvSpPr>
          <p:cNvPr id="6" name="TextBox 5"/>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Performance Visualization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609600" y="1228725"/>
            <a:ext cx="6294090" cy="5619750"/>
          </a:xfrm>
          <a:prstGeom prst="rect">
            <a:avLst/>
          </a:prstGeom>
        </p:spPr>
      </p:pic>
      <p:pic>
        <p:nvPicPr>
          <p:cNvPr id="3" name="Picture 2" descr="image.png"/>
          <p:cNvPicPr>
            <a:picLocks noChangeAspect="1"/>
          </p:cNvPicPr>
          <p:nvPr/>
        </p:nvPicPr>
        <p:blipFill>
          <a:blip r:embed="rId4"/>
          <a:stretch>
            <a:fillRect/>
          </a:stretch>
        </p:blipFill>
        <p:spPr>
          <a:xfrm>
            <a:off x="762000" y="1381125"/>
            <a:ext cx="5989290" cy="5314950"/>
          </a:xfrm>
          <a:prstGeom prst="rect">
            <a:avLst/>
          </a:prstGeom>
        </p:spPr>
      </p:pic>
      <p:pic>
        <p:nvPicPr>
          <p:cNvPr id="4" name="Picture 3" descr="image.png"/>
          <p:cNvPicPr>
            <a:picLocks noChangeAspect="1"/>
          </p:cNvPicPr>
          <p:nvPr/>
        </p:nvPicPr>
        <p:blipFill>
          <a:blip r:embed="rId5"/>
          <a:stretch>
            <a:fillRect/>
          </a:stretch>
        </p:blipFill>
        <p:spPr>
          <a:xfrm>
            <a:off x="7589490" y="2643187"/>
            <a:ext cx="190500" cy="200025"/>
          </a:xfrm>
          <a:prstGeom prst="rect">
            <a:avLst/>
          </a:prstGeom>
        </p:spPr>
      </p:pic>
      <p:pic>
        <p:nvPicPr>
          <p:cNvPr id="5" name="Picture 4" descr="image.png"/>
          <p:cNvPicPr>
            <a:picLocks noChangeAspect="1"/>
          </p:cNvPicPr>
          <p:nvPr/>
        </p:nvPicPr>
        <p:blipFill>
          <a:blip r:embed="rId6"/>
          <a:stretch>
            <a:fillRect/>
          </a:stretch>
        </p:blipFill>
        <p:spPr>
          <a:xfrm>
            <a:off x="7589490" y="3700462"/>
            <a:ext cx="190500" cy="200025"/>
          </a:xfrm>
          <a:prstGeom prst="rect">
            <a:avLst/>
          </a:prstGeom>
        </p:spPr>
      </p:pic>
      <p:pic>
        <p:nvPicPr>
          <p:cNvPr id="6" name="Picture 5" descr="image.png"/>
          <p:cNvPicPr>
            <a:picLocks noChangeAspect="1"/>
          </p:cNvPicPr>
          <p:nvPr/>
        </p:nvPicPr>
        <p:blipFill>
          <a:blip r:embed="rId7"/>
          <a:stretch>
            <a:fillRect/>
          </a:stretch>
        </p:blipFill>
        <p:spPr>
          <a:xfrm>
            <a:off x="7589490" y="4757737"/>
            <a:ext cx="190500" cy="200025"/>
          </a:xfrm>
          <a:prstGeom prst="rect">
            <a:avLst/>
          </a:prstGeom>
        </p:spPr>
      </p:pic>
      <p:sp>
        <p:nvSpPr>
          <p:cNvPr id="7" name="TextBox 6"/>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Confidence Calibration</a:t>
            </a:r>
          </a:p>
        </p:txBody>
      </p:sp>
      <p:sp>
        <p:nvSpPr>
          <p:cNvPr id="8" name="TextBox 7"/>
          <p:cNvSpPr txBox="1"/>
          <p:nvPr/>
        </p:nvSpPr>
        <p:spPr>
          <a:xfrm>
            <a:off x="7932390" y="2590800"/>
            <a:ext cx="3745259" cy="828675"/>
          </a:xfrm>
          <a:prstGeom prst="rect">
            <a:avLst/>
          </a:prstGeom>
          <a:noFill/>
        </p:spPr>
        <p:txBody>
          <a:bodyPr wrap="square" lIns="0" tIns="0" rIns="0" bIns="0" anchor="t">
            <a:spAutoFit/>
          </a:bodyPr>
          <a:lstStyle/>
          <a:p>
            <a:pPr algn="l"/>
            <a:r>
              <a:rPr sz="1800" b="1" i="0" u="none">
                <a:solidFill>
                  <a:srgbClr val="334155"/>
                </a:solidFill>
                <a:latin typeface="Inter"/>
              </a:rPr>
              <a:t>High Certainty:</a:t>
            </a:r>
            <a:r>
              <a:rPr sz="1800" b="0" i="0" u="none">
                <a:solidFill>
                  <a:srgbClr val="334155"/>
                </a:solidFill>
                <a:latin typeface="Inter"/>
              </a:rPr>
              <a:t> Correct predictions skew heavily toward 95%+ confidence.</a:t>
            </a:r>
          </a:p>
        </p:txBody>
      </p:sp>
      <p:sp>
        <p:nvSpPr>
          <p:cNvPr id="9" name="TextBox 8"/>
          <p:cNvSpPr txBox="1"/>
          <p:nvPr/>
        </p:nvSpPr>
        <p:spPr>
          <a:xfrm>
            <a:off x="7932390" y="3648075"/>
            <a:ext cx="3745259" cy="828675"/>
          </a:xfrm>
          <a:prstGeom prst="rect">
            <a:avLst/>
          </a:prstGeom>
          <a:noFill/>
        </p:spPr>
        <p:txBody>
          <a:bodyPr wrap="square" lIns="0" tIns="0" rIns="0" bIns="0" anchor="t">
            <a:spAutoFit/>
          </a:bodyPr>
          <a:lstStyle/>
          <a:p>
            <a:pPr algn="l"/>
            <a:r>
              <a:rPr sz="1800" b="1" i="0" u="none">
                <a:solidFill>
                  <a:srgbClr val="334155"/>
                </a:solidFill>
                <a:latin typeface="Inter"/>
              </a:rPr>
              <a:t>Ambiguity Threshold:</a:t>
            </a:r>
            <a:r>
              <a:rPr sz="1800" b="0" i="0" u="none">
                <a:solidFill>
                  <a:srgbClr val="334155"/>
                </a:solidFill>
                <a:latin typeface="Inter"/>
              </a:rPr>
              <a:t> Errors cluster in the 0.50 - 0.70 confidence range.</a:t>
            </a:r>
          </a:p>
        </p:txBody>
      </p:sp>
      <p:sp>
        <p:nvSpPr>
          <p:cNvPr id="10" name="TextBox 9"/>
          <p:cNvSpPr txBox="1"/>
          <p:nvPr/>
        </p:nvSpPr>
        <p:spPr>
          <a:xfrm>
            <a:off x="7932390" y="4705350"/>
            <a:ext cx="3745259" cy="552450"/>
          </a:xfrm>
          <a:prstGeom prst="rect">
            <a:avLst/>
          </a:prstGeom>
          <a:noFill/>
        </p:spPr>
        <p:txBody>
          <a:bodyPr wrap="square" lIns="0" tIns="0" rIns="0" bIns="0" anchor="t">
            <a:spAutoFit/>
          </a:bodyPr>
          <a:lstStyle/>
          <a:p>
            <a:pPr algn="l"/>
            <a:r>
              <a:rPr sz="1800" b="1" i="0" u="none">
                <a:solidFill>
                  <a:srgbClr val="334155"/>
                </a:solidFill>
                <a:latin typeface="Inter"/>
              </a:rPr>
              <a:t>Routing Logic:</a:t>
            </a:r>
            <a:r>
              <a:rPr sz="1800" b="0" i="0" u="none">
                <a:solidFill>
                  <a:srgbClr val="334155"/>
                </a:solidFill>
                <a:latin typeface="Inter"/>
              </a:rPr>
              <a:t> Ambiguous scores can trigger human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630983"/>
            <a:ext cx="5334000" cy="2815232"/>
          </a:xfrm>
          <a:prstGeom prst="roundRect">
            <a:avLst>
              <a:gd name="adj" fmla="val 406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2417712"/>
            <a:ext cx="5334000" cy="3241774"/>
          </a:xfrm>
          <a:prstGeom prst="roundRect">
            <a:avLst>
              <a:gd name="adj" fmla="val 352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5436691"/>
            <a:ext cx="533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2630983"/>
            <a:ext cx="533400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2630983"/>
            <a:ext cx="9525" cy="281523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34075" y="2630983"/>
            <a:ext cx="9525" cy="281523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23925" y="3821608"/>
            <a:ext cx="4705350" cy="731341"/>
          </a:xfrm>
          <a:prstGeom prst="roundRect">
            <a:avLst>
              <a:gd name="adj" fmla="val 10419"/>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48400" y="5649962"/>
            <a:ext cx="533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48400" y="2417712"/>
            <a:ext cx="533400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400" y="2417712"/>
            <a:ext cx="9525" cy="32417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1572875" y="2417712"/>
            <a:ext cx="9525" cy="32417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562725" y="3608337"/>
            <a:ext cx="4705350" cy="1157882"/>
          </a:xfrm>
          <a:prstGeom prst="roundRect">
            <a:avLst>
              <a:gd name="adj" fmla="val 658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Error Analysis: Why the Model Fails</a:t>
            </a:r>
          </a:p>
        </p:txBody>
      </p:sp>
      <p:sp>
        <p:nvSpPr>
          <p:cNvPr id="15" name="TextBox 14"/>
          <p:cNvSpPr txBox="1"/>
          <p:nvPr/>
        </p:nvSpPr>
        <p:spPr>
          <a:xfrm>
            <a:off x="923925" y="2973883"/>
            <a:ext cx="6175771" cy="276225"/>
          </a:xfrm>
          <a:prstGeom prst="rect">
            <a:avLst/>
          </a:prstGeom>
          <a:noFill/>
        </p:spPr>
        <p:txBody>
          <a:bodyPr wrap="none" lIns="0" tIns="0" rIns="0" bIns="0" anchor="t">
            <a:spAutoFit/>
          </a:bodyPr>
          <a:lstStyle/>
          <a:p>
            <a:pPr algn="l"/>
            <a:r>
              <a:rPr sz="1800" b="1" i="0" u="none">
                <a:solidFill>
                  <a:srgbClr val="0F172A"/>
                </a:solidFill>
                <a:latin typeface="Inter"/>
              </a:rPr>
              <a:t>Mixed Sentiment &amp; Sarcasm</a:t>
            </a:r>
          </a:p>
        </p:txBody>
      </p:sp>
      <p:sp>
        <p:nvSpPr>
          <p:cNvPr id="16" name="TextBox 15"/>
          <p:cNvSpPr txBox="1"/>
          <p:nvPr/>
        </p:nvSpPr>
        <p:spPr>
          <a:xfrm>
            <a:off x="923925" y="3402508"/>
            <a:ext cx="5881687" cy="266700"/>
          </a:xfrm>
          <a:prstGeom prst="rect">
            <a:avLst/>
          </a:prstGeom>
          <a:noFill/>
        </p:spPr>
        <p:txBody>
          <a:bodyPr wrap="none" lIns="0" tIns="0" rIns="0" bIns="0" anchor="t">
            <a:spAutoFit/>
          </a:bodyPr>
          <a:lstStyle/>
          <a:p>
            <a:pPr algn="l">
              <a:lnSpc>
                <a:spcPts val="2100"/>
              </a:lnSpc>
            </a:pPr>
            <a:r>
              <a:rPr sz="1500" b="1" i="0" u="none">
                <a:solidFill>
                  <a:srgbClr val="0F172A"/>
                </a:solidFill>
                <a:latin typeface="Inter"/>
              </a:rPr>
              <a:t>False Negative (Conf: 0.66)</a:t>
            </a:r>
          </a:p>
        </p:txBody>
      </p:sp>
      <p:sp>
        <p:nvSpPr>
          <p:cNvPr id="17" name="TextBox 16"/>
          <p:cNvSpPr txBox="1"/>
          <p:nvPr/>
        </p:nvSpPr>
        <p:spPr>
          <a:xfrm>
            <a:off x="1076325" y="3974008"/>
            <a:ext cx="4495800" cy="426541"/>
          </a:xfrm>
          <a:prstGeom prst="rect">
            <a:avLst/>
          </a:prstGeom>
          <a:noFill/>
        </p:spPr>
        <p:txBody>
          <a:bodyPr wrap="square" lIns="0" tIns="0" rIns="0" bIns="0" anchor="t">
            <a:spAutoFit/>
          </a:bodyPr>
          <a:lstStyle/>
          <a:p>
            <a:pPr algn="l">
              <a:lnSpc>
                <a:spcPts val="1679"/>
              </a:lnSpc>
            </a:pPr>
            <a:r>
              <a:rPr sz="1200" b="0" i="1" u="none">
                <a:solidFill>
                  <a:srgbClr val="475569"/>
                </a:solidFill>
                <a:latin typeface="Inter"/>
              </a:rPr>
              <a:t>"This isn't exactly a great film, but I admire the writers and director for trying something a little different..."</a:t>
            </a:r>
          </a:p>
        </p:txBody>
      </p:sp>
      <p:sp>
        <p:nvSpPr>
          <p:cNvPr id="18" name="TextBox 17"/>
          <p:cNvSpPr txBox="1"/>
          <p:nvPr/>
        </p:nvSpPr>
        <p:spPr>
          <a:xfrm>
            <a:off x="923925" y="4705350"/>
            <a:ext cx="4800600" cy="426541"/>
          </a:xfrm>
          <a:prstGeom prst="rect">
            <a:avLst/>
          </a:prstGeom>
          <a:noFill/>
        </p:spPr>
        <p:txBody>
          <a:bodyPr wrap="square" lIns="0" tIns="0" rIns="0" bIns="0" anchor="t">
            <a:spAutoFit/>
          </a:bodyPr>
          <a:lstStyle/>
          <a:p>
            <a:pPr algn="l">
              <a:lnSpc>
                <a:spcPts val="1679"/>
              </a:lnSpc>
            </a:pPr>
            <a:r>
              <a:rPr sz="1200" b="0" i="0" u="none">
                <a:solidFill>
                  <a:srgbClr val="475569"/>
                </a:solidFill>
                <a:latin typeface="Inter"/>
              </a:rPr>
              <a:t>Model heavily weights early negative tokens and misses the positive pivot.</a:t>
            </a:r>
          </a:p>
        </p:txBody>
      </p:sp>
      <p:sp>
        <p:nvSpPr>
          <p:cNvPr id="19" name="TextBox 18"/>
          <p:cNvSpPr txBox="1"/>
          <p:nvPr/>
        </p:nvSpPr>
        <p:spPr>
          <a:xfrm>
            <a:off x="6562725" y="2760612"/>
            <a:ext cx="5629275" cy="276225"/>
          </a:xfrm>
          <a:prstGeom prst="rect">
            <a:avLst/>
          </a:prstGeom>
          <a:noFill/>
        </p:spPr>
        <p:txBody>
          <a:bodyPr wrap="none" lIns="0" tIns="0" rIns="0" bIns="0" anchor="t">
            <a:spAutoFit/>
          </a:bodyPr>
          <a:lstStyle/>
          <a:p>
            <a:pPr algn="l"/>
            <a:r>
              <a:rPr sz="1800" b="1" i="0" u="none">
                <a:solidFill>
                  <a:srgbClr val="0F172A"/>
                </a:solidFill>
                <a:latin typeface="Inter"/>
              </a:rPr>
              <a:t>The 512-Token Horizon</a:t>
            </a:r>
          </a:p>
        </p:txBody>
      </p:sp>
      <p:sp>
        <p:nvSpPr>
          <p:cNvPr id="20" name="TextBox 19"/>
          <p:cNvSpPr txBox="1"/>
          <p:nvPr/>
        </p:nvSpPr>
        <p:spPr>
          <a:xfrm>
            <a:off x="6562725" y="3189237"/>
            <a:ext cx="5629275" cy="266700"/>
          </a:xfrm>
          <a:prstGeom prst="rect">
            <a:avLst/>
          </a:prstGeom>
          <a:noFill/>
        </p:spPr>
        <p:txBody>
          <a:bodyPr wrap="none" lIns="0" tIns="0" rIns="0" bIns="0" anchor="t">
            <a:spAutoFit/>
          </a:bodyPr>
          <a:lstStyle/>
          <a:p>
            <a:pPr algn="l">
              <a:lnSpc>
                <a:spcPts val="2100"/>
              </a:lnSpc>
            </a:pPr>
            <a:r>
              <a:rPr sz="1500" b="1" i="0" u="none">
                <a:solidFill>
                  <a:srgbClr val="0F172A"/>
                </a:solidFill>
                <a:latin typeface="Inter"/>
              </a:rPr>
              <a:t>False Positive (Conf: 0.95)</a:t>
            </a:r>
          </a:p>
        </p:txBody>
      </p:sp>
      <p:sp>
        <p:nvSpPr>
          <p:cNvPr id="21" name="TextBox 20"/>
          <p:cNvSpPr txBox="1"/>
          <p:nvPr/>
        </p:nvSpPr>
        <p:spPr>
          <a:xfrm>
            <a:off x="6715125" y="3760737"/>
            <a:ext cx="4495800" cy="853082"/>
          </a:xfrm>
          <a:prstGeom prst="rect">
            <a:avLst/>
          </a:prstGeom>
          <a:noFill/>
        </p:spPr>
        <p:txBody>
          <a:bodyPr wrap="square" lIns="0" tIns="0" rIns="0" bIns="0" anchor="t">
            <a:spAutoFit/>
          </a:bodyPr>
          <a:lstStyle/>
          <a:p>
            <a:pPr algn="l">
              <a:lnSpc>
                <a:spcPts val="1679"/>
              </a:lnSpc>
            </a:pPr>
            <a:r>
              <a:rPr sz="1200" b="0" i="1" u="none">
                <a:solidFill>
                  <a:srgbClr val="475569"/>
                </a:solidFill>
                <a:latin typeface="Inter"/>
              </a:rPr>
              <a:t>Start: "Although its plot is taken from history..."</a:t>
            </a:r>
            <a:r>
              <a:t>
</a:t>
            </a:r>
            <a:r>
              <a:rPr sz="1200" b="0" i="1" u="none">
                <a:solidFill>
                  <a:srgbClr val="475569"/>
                </a:solidFill>
                <a:latin typeface="Inter"/>
              </a:rPr>
              <a:t> End (Word 628): "...Even seen as erotica it is second-rate. 4/10"</a:t>
            </a:r>
          </a:p>
        </p:txBody>
      </p:sp>
      <p:sp>
        <p:nvSpPr>
          <p:cNvPr id="22" name="TextBox 21"/>
          <p:cNvSpPr txBox="1"/>
          <p:nvPr/>
        </p:nvSpPr>
        <p:spPr>
          <a:xfrm>
            <a:off x="6562725" y="4918620"/>
            <a:ext cx="4800600" cy="426541"/>
          </a:xfrm>
          <a:prstGeom prst="rect">
            <a:avLst/>
          </a:prstGeom>
          <a:noFill/>
        </p:spPr>
        <p:txBody>
          <a:bodyPr wrap="square" lIns="0" tIns="0" rIns="0" bIns="0" anchor="t">
            <a:spAutoFit/>
          </a:bodyPr>
          <a:lstStyle/>
          <a:p>
            <a:pPr algn="l">
              <a:lnSpc>
                <a:spcPts val="1679"/>
              </a:lnSpc>
            </a:pPr>
            <a:r>
              <a:rPr sz="1200" b="0" i="0" u="none">
                <a:solidFill>
                  <a:srgbClr val="475569"/>
                </a:solidFill>
                <a:latin typeface="Inter"/>
              </a:rPr>
              <a:t>Truncation forces the model to guess without reading the final verdict.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609600" y="1581150"/>
            <a:ext cx="381000" cy="323850"/>
          </a:xfrm>
          <a:prstGeom prst="rect">
            <a:avLst/>
          </a:prstGeom>
        </p:spPr>
      </p:pic>
      <p:pic>
        <p:nvPicPr>
          <p:cNvPr id="3" name="Picture 2" descr="image.png"/>
          <p:cNvPicPr>
            <a:picLocks noChangeAspect="1"/>
          </p:cNvPicPr>
          <p:nvPr/>
        </p:nvPicPr>
        <p:blipFill>
          <a:blip r:embed="rId4"/>
          <a:stretch>
            <a:fillRect/>
          </a:stretch>
        </p:blipFill>
        <p:spPr>
          <a:xfrm>
            <a:off x="609600" y="2438400"/>
            <a:ext cx="381000" cy="323850"/>
          </a:xfrm>
          <a:prstGeom prst="rect">
            <a:avLst/>
          </a:prstGeom>
        </p:spPr>
      </p:pic>
      <p:pic>
        <p:nvPicPr>
          <p:cNvPr id="4" name="Picture 3" descr="image.png"/>
          <p:cNvPicPr>
            <a:picLocks noChangeAspect="1"/>
          </p:cNvPicPr>
          <p:nvPr/>
        </p:nvPicPr>
        <p:blipFill>
          <a:blip r:embed="rId5"/>
          <a:stretch>
            <a:fillRect/>
          </a:stretch>
        </p:blipFill>
        <p:spPr>
          <a:xfrm>
            <a:off x="609600" y="3295650"/>
            <a:ext cx="381000" cy="323850"/>
          </a:xfrm>
          <a:prstGeom prst="rect">
            <a:avLst/>
          </a:prstGeom>
        </p:spPr>
      </p:pic>
      <p:sp>
        <p:nvSpPr>
          <p:cNvPr id="5" name="TextBox 4"/>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The Ethical Problem</a:t>
            </a:r>
          </a:p>
        </p:txBody>
      </p:sp>
      <p:sp>
        <p:nvSpPr>
          <p:cNvPr id="6" name="TextBox 5"/>
          <p:cNvSpPr txBox="1"/>
          <p:nvPr/>
        </p:nvSpPr>
        <p:spPr>
          <a:xfrm>
            <a:off x="1219200" y="1533525"/>
            <a:ext cx="6505575" cy="628650"/>
          </a:xfrm>
          <a:prstGeom prst="rect">
            <a:avLst/>
          </a:prstGeom>
          <a:noFill/>
        </p:spPr>
        <p:txBody>
          <a:bodyPr wrap="square" lIns="0" tIns="0" rIns="0" bIns="0" anchor="t">
            <a:spAutoFit/>
          </a:bodyPr>
          <a:lstStyle/>
          <a:p>
            <a:pPr algn="l"/>
            <a:r>
              <a:rPr sz="1800" b="1" i="0" u="none">
                <a:solidFill>
                  <a:srgbClr val="0F172A"/>
                </a:solidFill>
                <a:latin typeface="Inter"/>
              </a:rPr>
              <a:t>Sociodemographic Bias </a:t>
            </a:r>
            <a:r>
              <a:rPr sz="1800" b="1" i="0" u="none">
                <a:solidFill>
                  <a:srgbClr val="475569"/>
                </a:solidFill>
                <a:latin typeface="Inter"/>
              </a:rPr>
              <a:t>Pretrained weights penalize non-standard internet dialects.</a:t>
            </a:r>
          </a:p>
        </p:txBody>
      </p:sp>
      <p:sp>
        <p:nvSpPr>
          <p:cNvPr id="7" name="TextBox 6"/>
          <p:cNvSpPr txBox="1"/>
          <p:nvPr/>
        </p:nvSpPr>
        <p:spPr>
          <a:xfrm>
            <a:off x="1219200" y="2390775"/>
            <a:ext cx="5943600" cy="628650"/>
          </a:xfrm>
          <a:prstGeom prst="rect">
            <a:avLst/>
          </a:prstGeom>
          <a:noFill/>
        </p:spPr>
        <p:txBody>
          <a:bodyPr wrap="square" lIns="0" tIns="0" rIns="0" bIns="0" anchor="t">
            <a:spAutoFit/>
          </a:bodyPr>
          <a:lstStyle/>
          <a:p>
            <a:pPr algn="l"/>
            <a:r>
              <a:rPr sz="1800" b="1" i="0" u="none">
                <a:solidFill>
                  <a:srgbClr val="0F172A"/>
                </a:solidFill>
                <a:latin typeface="Inter"/>
              </a:rPr>
              <a:t>Automation Censorship </a:t>
            </a:r>
            <a:r>
              <a:rPr sz="1800" b="1" i="0" u="none">
                <a:solidFill>
                  <a:srgbClr val="475569"/>
                </a:solidFill>
                <a:latin typeface="Inter"/>
              </a:rPr>
              <a:t>False negatives unfairly silence constructive criticism.</a:t>
            </a:r>
          </a:p>
        </p:txBody>
      </p:sp>
      <p:sp>
        <p:nvSpPr>
          <p:cNvPr id="8" name="TextBox 7"/>
          <p:cNvSpPr txBox="1"/>
          <p:nvPr/>
        </p:nvSpPr>
        <p:spPr>
          <a:xfrm>
            <a:off x="1219200" y="3248025"/>
            <a:ext cx="7010400" cy="628650"/>
          </a:xfrm>
          <a:prstGeom prst="rect">
            <a:avLst/>
          </a:prstGeom>
          <a:noFill/>
        </p:spPr>
        <p:txBody>
          <a:bodyPr wrap="square" lIns="0" tIns="0" rIns="0" bIns="0" anchor="t">
            <a:spAutoFit/>
          </a:bodyPr>
          <a:lstStyle/>
          <a:p>
            <a:pPr algn="l"/>
            <a:r>
              <a:rPr sz="1800" b="1" i="0" u="none">
                <a:solidFill>
                  <a:srgbClr val="0F172A"/>
                </a:solidFill>
                <a:latin typeface="Inter"/>
              </a:rPr>
              <a:t>Data Provenance </a:t>
            </a:r>
            <a:r>
              <a:rPr sz="1800" b="1" i="0" u="none">
                <a:solidFill>
                  <a:srgbClr val="475569"/>
                </a:solidFill>
                <a:latin typeface="Inter"/>
              </a:rPr>
              <a:t>Historical text distribution diverges from modern platform slang.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52725" y="5253037"/>
            <a:ext cx="6686550" cy="752475"/>
          </a:xfrm>
          <a:prstGeom prst="roundRect">
            <a:avLst>
              <a:gd name="adj" fmla="val 50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5810250" y="2071687"/>
            <a:ext cx="571500" cy="762000"/>
          </a:xfrm>
          <a:prstGeom prst="rect">
            <a:avLst/>
          </a:prstGeom>
        </p:spPr>
      </p:pic>
      <p:sp>
        <p:nvSpPr>
          <p:cNvPr id="4" name="TextBox 3"/>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0F172A"/>
                </a:solidFill>
                <a:latin typeface="Inter"/>
              </a:rPr>
              <a:t>Conclusion &amp; Verdict</a:t>
            </a:r>
          </a:p>
        </p:txBody>
      </p:sp>
      <p:sp>
        <p:nvSpPr>
          <p:cNvPr id="5" name="TextBox 4"/>
          <p:cNvSpPr txBox="1"/>
          <p:nvPr/>
        </p:nvSpPr>
        <p:spPr>
          <a:xfrm>
            <a:off x="738187" y="3138487"/>
            <a:ext cx="10715625" cy="742950"/>
          </a:xfrm>
          <a:prstGeom prst="rect">
            <a:avLst/>
          </a:prstGeom>
          <a:noFill/>
        </p:spPr>
        <p:txBody>
          <a:bodyPr wrap="square" lIns="0" tIns="0" rIns="0" bIns="0" anchor="t">
            <a:spAutoFit/>
          </a:bodyPr>
          <a:lstStyle/>
          <a:p>
            <a:pPr algn="ctr"/>
            <a:r>
              <a:rPr sz="2400" b="1" i="0" u="none">
                <a:solidFill>
                  <a:srgbClr val="0F172A"/>
                </a:solidFill>
                <a:latin typeface="Inter"/>
              </a:rPr>
              <a:t>DistilBERT provides a scalable semantic upgrade over TF-IDF.</a:t>
            </a:r>
          </a:p>
        </p:txBody>
      </p:sp>
      <p:sp>
        <p:nvSpPr>
          <p:cNvPr id="6" name="TextBox 5"/>
          <p:cNvSpPr txBox="1"/>
          <p:nvPr/>
        </p:nvSpPr>
        <p:spPr>
          <a:xfrm>
            <a:off x="1333500" y="4110037"/>
            <a:ext cx="9525000" cy="685800"/>
          </a:xfrm>
          <a:prstGeom prst="rect">
            <a:avLst/>
          </a:prstGeom>
          <a:noFill/>
        </p:spPr>
        <p:txBody>
          <a:bodyPr wrap="square" lIns="0" tIns="0" rIns="0" bIns="0" anchor="t">
            <a:spAutoFit/>
          </a:bodyPr>
          <a:lstStyle/>
          <a:p>
            <a:pPr algn="ctr">
              <a:lnSpc>
                <a:spcPts val="2700"/>
              </a:lnSpc>
            </a:pPr>
            <a:r>
              <a:rPr sz="1800" b="0" i="0" u="none">
                <a:solidFill>
                  <a:srgbClr val="475569"/>
                </a:solidFill>
                <a:latin typeface="Inter"/>
              </a:rPr>
              <a:t>However, token limits and sarcasm create fatal blindspots. This pipeline is a routing aid, never an autonomous gatekeeper.</a:t>
            </a:r>
          </a:p>
        </p:txBody>
      </p:sp>
      <p:sp>
        <p:nvSpPr>
          <p:cNvPr id="7" name="TextBox 6"/>
          <p:cNvSpPr txBox="1"/>
          <p:nvPr/>
        </p:nvSpPr>
        <p:spPr>
          <a:xfrm>
            <a:off x="2500312" y="5491162"/>
            <a:ext cx="7191375" cy="276225"/>
          </a:xfrm>
          <a:prstGeom prst="rect">
            <a:avLst/>
          </a:prstGeom>
          <a:noFill/>
        </p:spPr>
        <p:txBody>
          <a:bodyPr wrap="none" lIns="0" tIns="0" rIns="0" bIns="0" anchor="t">
            <a:spAutoFit/>
          </a:bodyPr>
          <a:lstStyle/>
          <a:p>
            <a:pPr algn="ctr"/>
            <a:r>
              <a:rPr sz="1800" b="1" i="0" u="none">
                <a:solidFill>
                  <a:srgbClr val="1D4ED8"/>
                </a:solidFill>
                <a:latin typeface="Inter"/>
              </a:rPr>
              <a:t>Human-in-the-loop review remains strictly required.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5715000" y="3743325"/>
            <a:ext cx="76200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45693" y="2495550"/>
            <a:ext cx="4900612" cy="1019175"/>
          </a:xfrm>
          <a:prstGeom prst="rect">
            <a:avLst/>
          </a:prstGeom>
          <a:noFill/>
        </p:spPr>
        <p:txBody>
          <a:bodyPr wrap="none" lIns="0" tIns="0" rIns="0" bIns="0" anchor="t">
            <a:spAutoFit/>
          </a:bodyPr>
          <a:lstStyle/>
          <a:p>
            <a:pPr algn="ctr"/>
            <a:r>
              <a:rPr sz="6000" b="1" i="0" u="none">
                <a:solidFill>
                  <a:srgbClr val="F8FAFC"/>
                </a:solidFill>
                <a:latin typeface="Playfair Display"/>
              </a:rPr>
              <a:t>Thank You</a:t>
            </a:r>
          </a:p>
        </p:txBody>
      </p:sp>
      <p:sp>
        <p:nvSpPr>
          <p:cNvPr id="4" name="TextBox 3"/>
          <p:cNvSpPr txBox="1"/>
          <p:nvPr/>
        </p:nvSpPr>
        <p:spPr>
          <a:xfrm>
            <a:off x="4452937" y="4086225"/>
            <a:ext cx="3286125" cy="276225"/>
          </a:xfrm>
          <a:prstGeom prst="rect">
            <a:avLst/>
          </a:prstGeom>
          <a:noFill/>
        </p:spPr>
        <p:txBody>
          <a:bodyPr wrap="none" lIns="0" tIns="0" rIns="0" bIns="0" anchor="t">
            <a:spAutoFit/>
          </a:bodyPr>
          <a:lstStyle/>
          <a:p>
            <a:pPr algn="ctr"/>
            <a:r>
              <a:rPr sz="1800" b="0" i="0" u="none">
                <a:solidFill>
                  <a:srgbClr val="CBD5E1"/>
                </a:solidFill>
                <a:latin typeface="Inter"/>
              </a:rPr>
              <a:t>MAAI902 Assessment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TotalTime>
  <Words>1487</Words>
  <Application>Microsoft Macintosh PowerPoint</Application>
  <PresentationFormat>Widescreen</PresentationFormat>
  <Paragraphs>80</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Inter</vt:lpstr>
      <vt:lpstr>Playfair Display</vt:lpstr>
      <vt:lpstr>Calibri</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Bin Huang</cp:lastModifiedBy>
  <cp:revision>3</cp:revision>
  <dcterms:created xsi:type="dcterms:W3CDTF">2013-01-27T09:14:16Z</dcterms:created>
  <dcterms:modified xsi:type="dcterms:W3CDTF">2026-10-25T19:43:54Z</dcterms:modified>
  <cp:category/>
</cp:coreProperties>
</file>